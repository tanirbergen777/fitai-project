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2C3E50"/>
                </a:solidFill>
              </a:defRPr>
            </a:pPr>
            <a:r>
              <a:t>Мәліметтер базасы: Neon (PostgreSQL) және ER Диаграмма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2194560" cy="1417319"/>
          </a:xfrm>
          <a:prstGeom prst="rect">
            <a:avLst/>
          </a:prstGeom>
          <a:solidFill>
            <a:srgbClr val="F8F9F9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2194560" cy="4572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👤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2011679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200"/>
              </a:spcBef>
              <a:defRPr b="1" sz="1400">
                <a:solidFill>
                  <a:srgbClr val="2C3E50"/>
                </a:solidFill>
              </a:defRPr>
            </a:pPr>
            <a:r>
              <a:t>🔑 id (PK)</a:t>
            </a:r>
          </a:p>
          <a:p>
            <a:pPr>
              <a:spcBef>
                <a:spcPts val="200"/>
              </a:spcBef>
              <a:defRPr sz="1400">
                <a:solidFill>
                  <a:srgbClr val="2C3E50"/>
                </a:solidFill>
              </a:defRPr>
            </a:pPr>
            <a:r>
              <a:t>📝 name</a:t>
            </a:r>
          </a:p>
          <a:p>
            <a:pPr>
              <a:spcBef>
                <a:spcPts val="200"/>
              </a:spcBef>
              <a:defRPr sz="1400">
                <a:solidFill>
                  <a:srgbClr val="2C3E50"/>
                </a:solidFill>
              </a:defRPr>
            </a:pPr>
            <a:r>
              <a:t>📏 age, height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097280"/>
            <a:ext cx="2194560" cy="1417319"/>
          </a:xfrm>
          <a:prstGeom prst="rect">
            <a:avLst/>
          </a:prstGeom>
          <a:solidFill>
            <a:srgbClr val="F8F9F9"/>
          </a:solidFill>
          <a:ln w="254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1097280"/>
            <a:ext cx="2194560" cy="457200"/>
          </a:xfrm>
          <a:prstGeom prst="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0972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🍎 Nutrition_Plans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554480"/>
            <a:ext cx="2011679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200"/>
              </a:spcBef>
              <a:defRPr b="1" sz="1400">
                <a:solidFill>
                  <a:srgbClr val="2C3E50"/>
                </a:solidFill>
              </a:defRPr>
            </a:pPr>
            <a:r>
              <a:t>🔑 id (PK)</a:t>
            </a:r>
          </a:p>
          <a:p>
            <a:pPr>
              <a:spcBef>
                <a:spcPts val="200"/>
              </a:spcBef>
              <a:defRPr b="1" sz="1400">
                <a:solidFill>
                  <a:srgbClr val="2C3E50"/>
                </a:solidFill>
              </a:defRPr>
            </a:pPr>
            <a:r>
              <a:t>🔗 user_id (FK)</a:t>
            </a:r>
          </a:p>
          <a:p>
            <a:pPr>
              <a:spcBef>
                <a:spcPts val="200"/>
              </a:spcBef>
              <a:defRPr sz="1400">
                <a:solidFill>
                  <a:srgbClr val="2C3E50"/>
                </a:solidFill>
              </a:defRPr>
            </a:pPr>
            <a:r>
              <a:t>🔥 daily_calories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097280"/>
            <a:ext cx="2194560" cy="1417319"/>
          </a:xfrm>
          <a:prstGeom prst="rect">
            <a:avLst/>
          </a:prstGeom>
          <a:solidFill>
            <a:srgbClr val="F8F9F9"/>
          </a:solidFill>
          <a:ln w="254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1097280"/>
            <a:ext cx="2194560" cy="457200"/>
          </a:xfrm>
          <a:prstGeom prst="rect">
            <a:avLst/>
          </a:prstGeom>
          <a:solidFill>
            <a:srgbClr val="D35400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0972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🥗 Meals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554480"/>
            <a:ext cx="2011679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200"/>
              </a:spcBef>
              <a:defRPr b="1" sz="1400">
                <a:solidFill>
                  <a:srgbClr val="2C3E50"/>
                </a:solidFill>
              </a:defRPr>
            </a:pPr>
            <a:r>
              <a:t>🔑 id (PK)</a:t>
            </a:r>
          </a:p>
          <a:p>
            <a:pPr>
              <a:spcBef>
                <a:spcPts val="200"/>
              </a:spcBef>
              <a:defRPr b="1" sz="1400">
                <a:solidFill>
                  <a:srgbClr val="2C3E50"/>
                </a:solidFill>
              </a:defRPr>
            </a:pPr>
            <a:r>
              <a:t>🔗 plan_id (FK)</a:t>
            </a:r>
          </a:p>
          <a:p>
            <a:pPr>
              <a:spcBef>
                <a:spcPts val="200"/>
              </a:spcBef>
              <a:defRPr sz="1400">
                <a:solidFill>
                  <a:srgbClr val="2C3E50"/>
                </a:solidFill>
              </a:defRPr>
            </a:pPr>
            <a:r>
              <a:t>🥑 food_name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3108960"/>
            <a:ext cx="2194560" cy="1417319"/>
          </a:xfrm>
          <a:prstGeom prst="rect">
            <a:avLst/>
          </a:prstGeom>
          <a:solidFill>
            <a:srgbClr val="F8F9F9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3108960"/>
            <a:ext cx="2194560" cy="4572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1089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🏋️ Workouts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566160"/>
            <a:ext cx="2011679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200"/>
              </a:spcBef>
              <a:defRPr b="1" sz="1400">
                <a:solidFill>
                  <a:srgbClr val="2C3E50"/>
                </a:solidFill>
              </a:defRPr>
            </a:pPr>
            <a:r>
              <a:t>🔑 id (PK)</a:t>
            </a:r>
          </a:p>
          <a:p>
            <a:pPr>
              <a:spcBef>
                <a:spcPts val="200"/>
              </a:spcBef>
              <a:defRPr b="1" sz="1400">
                <a:solidFill>
                  <a:srgbClr val="2C3E50"/>
                </a:solidFill>
              </a:defRPr>
            </a:pPr>
            <a:r>
              <a:t>🔗 user_id (FK)</a:t>
            </a:r>
          </a:p>
          <a:p>
            <a:pPr>
              <a:spcBef>
                <a:spcPts val="200"/>
              </a:spcBef>
              <a:defRPr sz="1400">
                <a:solidFill>
                  <a:srgbClr val="2C3E50"/>
                </a:solidFill>
              </a:defRPr>
            </a:pPr>
            <a:r>
              <a:t>📅 workout_type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3108960"/>
            <a:ext cx="2194560" cy="1417319"/>
          </a:xfrm>
          <a:prstGeom prst="rect">
            <a:avLst/>
          </a:prstGeom>
          <a:solidFill>
            <a:srgbClr val="F8F9F9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0" y="3108960"/>
            <a:ext cx="2194560" cy="4572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31089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🏃‍♂️ Exercises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566160"/>
            <a:ext cx="2011679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200"/>
              </a:spcBef>
              <a:defRPr b="1" sz="1400">
                <a:solidFill>
                  <a:srgbClr val="2C3E50"/>
                </a:solidFill>
              </a:defRPr>
            </a:pPr>
            <a:r>
              <a:t>🔑 id (PK)</a:t>
            </a:r>
          </a:p>
          <a:p>
            <a:pPr>
              <a:spcBef>
                <a:spcPts val="200"/>
              </a:spcBef>
              <a:defRPr b="1" sz="1400">
                <a:solidFill>
                  <a:srgbClr val="2C3E50"/>
                </a:solidFill>
              </a:defRPr>
            </a:pPr>
            <a:r>
              <a:t>🔗 workout_id (FK)</a:t>
            </a:r>
          </a:p>
          <a:p>
            <a:pPr>
              <a:spcBef>
                <a:spcPts val="200"/>
              </a:spcBef>
              <a:defRPr sz="1400">
                <a:solidFill>
                  <a:srgbClr val="2C3E50"/>
                </a:solidFill>
              </a:defRPr>
            </a:pPr>
            <a:r>
              <a:t>🎯 exercise_name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5120640"/>
            <a:ext cx="2194560" cy="1417319"/>
          </a:xfrm>
          <a:prstGeom prst="rect">
            <a:avLst/>
          </a:prstGeom>
          <a:solidFill>
            <a:srgbClr val="F8F9F9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0" y="5120640"/>
            <a:ext cx="2194560" cy="457200"/>
          </a:xfrm>
          <a:prstGeom prst="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51206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📷 CV_Logs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577840"/>
            <a:ext cx="2011679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200"/>
              </a:spcBef>
              <a:defRPr b="1" sz="1400">
                <a:solidFill>
                  <a:srgbClr val="2C3E50"/>
                </a:solidFill>
              </a:defRPr>
            </a:pPr>
            <a:r>
              <a:t>🔑 id (PK)</a:t>
            </a:r>
          </a:p>
          <a:p>
            <a:pPr>
              <a:spcBef>
                <a:spcPts val="200"/>
              </a:spcBef>
              <a:defRPr b="1" sz="1400">
                <a:solidFill>
                  <a:srgbClr val="2C3E50"/>
                </a:solidFill>
              </a:defRPr>
            </a:pPr>
            <a:r>
              <a:t>🔗 user_id (FK)</a:t>
            </a:r>
          </a:p>
          <a:p>
            <a:pPr>
              <a:spcBef>
                <a:spcPts val="200"/>
              </a:spcBef>
              <a:defRPr sz="1400">
                <a:solidFill>
                  <a:srgbClr val="2C3E50"/>
                </a:solidFill>
              </a:defRPr>
            </a:pPr>
            <a:r>
              <a:t>✅ accuracy_score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120640"/>
            <a:ext cx="2194560" cy="1417319"/>
          </a:xfrm>
          <a:prstGeom prst="rect">
            <a:avLst/>
          </a:prstGeom>
          <a:solidFill>
            <a:srgbClr val="F8F9F9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5120640"/>
            <a:ext cx="2194560" cy="45720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1206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🔥 Motivation_Streak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577840"/>
            <a:ext cx="2011679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200"/>
              </a:spcBef>
              <a:defRPr b="1" sz="1400">
                <a:solidFill>
                  <a:srgbClr val="2C3E50"/>
                </a:solidFill>
              </a:defRPr>
            </a:pPr>
            <a:r>
              <a:t>🔑 id (PK)</a:t>
            </a:r>
          </a:p>
          <a:p>
            <a:pPr>
              <a:spcBef>
                <a:spcPts val="200"/>
              </a:spcBef>
              <a:defRPr b="1" sz="1400">
                <a:solidFill>
                  <a:srgbClr val="2C3E50"/>
                </a:solidFill>
              </a:defRPr>
            </a:pPr>
            <a:r>
              <a:t>🔗 user_id (FK)</a:t>
            </a:r>
          </a:p>
          <a:p>
            <a:pPr>
              <a:spcBef>
                <a:spcPts val="200"/>
              </a:spcBef>
              <a:defRPr sz="1400">
                <a:solidFill>
                  <a:srgbClr val="2C3E50"/>
                </a:solidFill>
              </a:defRPr>
            </a:pPr>
            <a:r>
              <a:t>⭐ current_streak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3108960" y="1805939"/>
            <a:ext cx="1920240" cy="1645921"/>
          </a:xfrm>
          <a:prstGeom prst="bentConnector3">
            <a:avLst/>
          </a:prstGeom>
          <a:ln w="1905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223760" y="1805939"/>
            <a:ext cx="1463040" cy="0"/>
          </a:xfrm>
          <a:prstGeom prst="line">
            <a:avLst/>
          </a:prstGeom>
          <a:ln w="1905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08960" y="3451860"/>
            <a:ext cx="1920240" cy="365760"/>
          </a:xfrm>
          <a:prstGeom prst="bentConnector3">
            <a:avLst/>
          </a:prstGeom>
          <a:ln w="1905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223760" y="3817620"/>
            <a:ext cx="1463040" cy="0"/>
          </a:xfrm>
          <a:prstGeom prst="line">
            <a:avLst/>
          </a:prstGeom>
          <a:ln w="1905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108960" y="3451860"/>
            <a:ext cx="1920240" cy="2377440"/>
          </a:xfrm>
          <a:prstGeom prst="bentConnector3">
            <a:avLst/>
          </a:prstGeom>
          <a:ln w="1905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11680" y="4160520"/>
            <a:ext cx="0" cy="960120"/>
          </a:xfrm>
          <a:prstGeom prst="line">
            <a:avLst/>
          </a:prstGeom>
          <a:ln w="1905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0" y="53035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7F8C8D"/>
                </a:solidFill>
              </a:defRPr>
            </a:pPr>
            <a:r>
              <a:t>Фитнес деректері қатаң байланыстарды (Relationships) талап етеді. Бір User-де бірнеше Workout, бір Workout-та бірнеше Exercise болады. Сондықтан біз NoSQL емес, Neon (PostgreSQL) реляциялық базасын таңдадық.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