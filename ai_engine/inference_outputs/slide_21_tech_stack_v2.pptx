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2C3E50"/>
                </a:solidFill>
              </a:defRPr>
            </a:pPr>
            <a:r>
              <a:t>Жобаның Технологиялық Стекі және Жалпы Схемасы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200400" cy="530352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017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000">
                <a:solidFill>
                  <a:srgbClr val="2C3E50"/>
                </a:solidFill>
              </a:defRPr>
            </a:pPr>
            <a:r>
              <a:t>Қолданылған технологиялар</a:t>
            </a:r>
          </a:p>
          <a:p>
            <a:pPr>
              <a:spcBef>
                <a:spcPts val="1200"/>
              </a:spcBef>
              <a:defRPr b="1" sz="1600">
                <a:solidFill>
                  <a:srgbClr val="2980B9"/>
                </a:solidFill>
              </a:defRPr>
            </a:pPr>
            <a:r>
              <a:t>• Frontend: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  React, TypeScript, Vite</a:t>
            </a:r>
          </a:p>
          <a:p>
            <a:pPr>
              <a:spcBef>
                <a:spcPts val="1200"/>
              </a:spcBef>
              <a:defRPr b="1" sz="1600">
                <a:solidFill>
                  <a:srgbClr val="2980B9"/>
                </a:solidFill>
              </a:defRPr>
            </a:pPr>
            <a:r>
              <a:t>• Backend: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  Python, FastAPI</a:t>
            </a:r>
          </a:p>
          <a:p>
            <a:pPr>
              <a:spcBef>
                <a:spcPts val="1200"/>
              </a:spcBef>
              <a:defRPr b="1" sz="1600">
                <a:solidFill>
                  <a:srgbClr val="2980B9"/>
                </a:solidFill>
              </a:defRPr>
            </a:pPr>
            <a:r>
              <a:t>• Database: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  Neon (PostgreSQL)</a:t>
            </a:r>
          </a:p>
          <a:p>
            <a:pPr>
              <a:spcBef>
                <a:spcPts val="1200"/>
              </a:spcBef>
              <a:defRPr b="1" sz="1600">
                <a:solidFill>
                  <a:srgbClr val="2980B9"/>
                </a:solidFill>
              </a:defRPr>
            </a:pPr>
            <a:r>
              <a:t>• Auth &amp; Media: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  Supabase</a:t>
            </a:r>
          </a:p>
          <a:p>
            <a:pPr>
              <a:spcBef>
                <a:spcPts val="1200"/>
              </a:spcBef>
              <a:defRPr b="1" sz="1600">
                <a:solidFill>
                  <a:srgbClr val="2980B9"/>
                </a:solidFill>
              </a:defRPr>
            </a:pPr>
            <a:r>
              <a:t>• AI / ML: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  Groq (Llama 3.3), MediaPipe, Scikit-learn</a:t>
            </a:r>
          </a:p>
          <a:p>
            <a:pPr>
              <a:spcBef>
                <a:spcPts val="1200"/>
              </a:spcBef>
              <a:defRPr b="1" sz="1600">
                <a:solidFill>
                  <a:srgbClr val="2980B9"/>
                </a:solidFill>
              </a:defRPr>
            </a:pPr>
            <a:r>
              <a:t>• Hosting: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  Render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097280"/>
            <a:ext cx="2743200" cy="914400"/>
          </a:xfrm>
          <a:prstGeom prst="rect">
            <a:avLst/>
          </a:prstGeom>
          <a:solidFill>
            <a:srgbClr val="EBF5FB"/>
          </a:solidFill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1887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800">
                <a:solidFill>
                  <a:srgbClr val="2980B9"/>
                </a:solidFill>
              </a:defRPr>
            </a:pPr>
            <a:r>
              <a:t>💻 Frontend</a:t>
            </a:r>
          </a:p>
          <a:p>
            <a:pPr algn="ctr">
              <a:defRPr sz="1300">
                <a:solidFill>
                  <a:srgbClr val="34495E"/>
                </a:solidFill>
              </a:defRPr>
            </a:pPr>
            <a:r>
              <a:t>(React / Vite / TS)</a:t>
            </a:r>
            <a:br/>
            <a:r>
              <a:t>User 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2743200"/>
            <a:ext cx="5486400" cy="1828800"/>
          </a:xfrm>
          <a:prstGeom prst="rect">
            <a:avLst/>
          </a:prstGeom>
          <a:solidFill>
            <a:srgbClr val="F4F6F7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27432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F8C8D"/>
                </a:solidFill>
              </a:defRPr>
            </a:pPr>
            <a:r>
              <a:t>☁️ Hosted on Render Cloud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3200400"/>
            <a:ext cx="2743200" cy="914400"/>
          </a:xfrm>
          <a:prstGeom prst="rect">
            <a:avLst/>
          </a:prstGeom>
          <a:solidFill>
            <a:srgbClr val="E8F8F5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32918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800">
                <a:solidFill>
                  <a:srgbClr val="27AE60"/>
                </a:solidFill>
              </a:defRPr>
            </a:pPr>
            <a:r>
              <a:t>⚙️ Backend</a:t>
            </a:r>
          </a:p>
          <a:p>
            <a:pPr algn="ctr">
              <a:defRPr sz="1300">
                <a:solidFill>
                  <a:srgbClr val="34495E"/>
                </a:solidFill>
              </a:defRPr>
            </a:pPr>
            <a:r>
              <a:t>(FastAPI / Python)</a:t>
            </a:r>
            <a:br/>
            <a:r>
              <a:t>API Gateway &amp; Core Logic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0" y="2011680"/>
            <a:ext cx="0" cy="1188720"/>
          </a:xfrm>
          <a:prstGeom prst="line">
            <a:avLst/>
          </a:prstGeom>
          <a:ln w="25400">
            <a:solidFill>
              <a:srgbClr val="95A5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0" y="2423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F8C8D"/>
                </a:solidFill>
              </a:defRPr>
            </a:pPr>
            <a:r>
              <a:t>REST API / HTTP</a:t>
            </a:r>
            <a:br/>
            <a:r>
              <a:t>(Сұраныстар)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5486400"/>
            <a:ext cx="2560320" cy="914400"/>
          </a:xfrm>
          <a:prstGeom prst="rect">
            <a:avLst/>
          </a:prstGeom>
          <a:solidFill>
            <a:srgbClr val="FDEBD0"/>
          </a:solidFill>
          <a:ln w="3810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55778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800">
                <a:solidFill>
                  <a:srgbClr val="D35400"/>
                </a:solidFill>
              </a:defRPr>
            </a:pPr>
            <a:r>
              <a:t>🗄️ Database</a:t>
            </a:r>
          </a:p>
          <a:p>
            <a:pPr algn="ctr">
              <a:defRPr sz="1300">
                <a:solidFill>
                  <a:srgbClr val="34495E"/>
                </a:solidFill>
              </a:defRPr>
            </a:pPr>
            <a:r>
              <a:t>(Neon / PostgreSQL)</a:t>
            </a:r>
            <a:br/>
            <a:r>
              <a:t>User &amp; Plan Data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5394960" y="4114800"/>
            <a:ext cx="2377440" cy="1371600"/>
          </a:xfrm>
          <a:prstGeom prst="bentConnector3">
            <a:avLst/>
          </a:prstGeom>
          <a:ln w="25400">
            <a:solidFill>
              <a:srgbClr val="95A5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94960" y="4572000"/>
            <a:ext cx="0" cy="0"/>
          </a:xfrm>
          <a:prstGeom prst="line">
            <a:avLst/>
          </a:prstGeom>
          <a:ln w="25400">
            <a:solidFill>
              <a:srgbClr val="95A5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480560" y="402335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F8C8D"/>
                </a:solidFill>
              </a:defRPr>
            </a:pPr>
            <a:r>
              <a:t>SQL Queries</a:t>
            </a:r>
            <a:br/>
            <a:r>
              <a:t>(Деректер сақтау)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5486400"/>
            <a:ext cx="2560320" cy="914400"/>
          </a:xfrm>
          <a:prstGeom prst="rect">
            <a:avLst/>
          </a:prstGeom>
          <a:solidFill>
            <a:srgbClr val="E8DAEF"/>
          </a:solidFill>
          <a:ln w="381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55778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800">
                <a:solidFill>
                  <a:srgbClr val="8E44AD"/>
                </a:solidFill>
              </a:defRPr>
            </a:pPr>
            <a:r>
              <a:t>🔒 Auth &amp; Storage</a:t>
            </a:r>
          </a:p>
          <a:p>
            <a:pPr algn="ctr">
              <a:defRPr sz="1300">
                <a:solidFill>
                  <a:srgbClr val="34495E"/>
                </a:solidFill>
              </a:defRPr>
            </a:pPr>
            <a:r>
              <a:t>(Supabase)</a:t>
            </a:r>
            <a:br/>
            <a:r>
              <a:t>Authentication &amp; Media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0" y="4114800"/>
            <a:ext cx="0" cy="1371600"/>
          </a:xfrm>
          <a:prstGeom prst="line">
            <a:avLst/>
          </a:prstGeom>
          <a:ln w="25400">
            <a:solidFill>
              <a:srgbClr val="95A5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4800600"/>
            <a:ext cx="0" cy="0"/>
          </a:xfrm>
          <a:prstGeom prst="line">
            <a:avLst/>
          </a:prstGeom>
          <a:ln w="25400">
            <a:solidFill>
              <a:srgbClr val="95A5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0" y="4617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F8C8D"/>
                </a:solidFill>
              </a:defRPr>
            </a:pPr>
            <a:r>
              <a:t>API / Bucket</a:t>
            </a:r>
            <a:br/>
            <a:r>
              <a:t>(Токендер &amp; Файлдар)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5486400"/>
            <a:ext cx="2194560" cy="914400"/>
          </a:xfrm>
          <a:prstGeom prst="rect">
            <a:avLst/>
          </a:prstGeom>
          <a:solidFill>
            <a:srgbClr val="FDEDEC"/>
          </a:solidFill>
          <a:ln w="381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5577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800">
                <a:solidFill>
                  <a:srgbClr val="C0392B"/>
                </a:solidFill>
              </a:defRPr>
            </a:pPr>
            <a:r>
              <a:t>🧠 AI Engine</a:t>
            </a:r>
          </a:p>
          <a:p>
            <a:pPr algn="ctr">
              <a:defRPr sz="1300">
                <a:solidFill>
                  <a:srgbClr val="34495E"/>
                </a:solidFill>
              </a:defRPr>
            </a:pPr>
            <a:r>
              <a:t>(Groq / MediaPipe)</a:t>
            </a:r>
            <a:br/>
            <a:r>
              <a:t>ML Models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86800" y="4114800"/>
            <a:ext cx="2194560" cy="1371600"/>
          </a:xfrm>
          <a:prstGeom prst="bentConnector3">
            <a:avLst/>
          </a:prstGeom>
          <a:ln w="25400">
            <a:solidFill>
              <a:srgbClr val="95A5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881360" y="4572000"/>
            <a:ext cx="0" cy="0"/>
          </a:xfrm>
          <a:prstGeom prst="line">
            <a:avLst/>
          </a:prstGeom>
          <a:ln w="25400">
            <a:solidFill>
              <a:srgbClr val="95A5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966960" y="402335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F8C8D"/>
                </a:solidFill>
              </a:defRPr>
            </a:pPr>
            <a:r>
              <a:t>Inference</a:t>
            </a:r>
            <a:br/>
            <a:r>
              <a:t>(Жүйке желісі)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