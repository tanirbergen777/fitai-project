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3200">
                <a:solidFill>
                  <a:srgbClr val="2C3E50"/>
                </a:solidFill>
              </a:defRPr>
            </a:pPr>
            <a:r>
              <a:t>Data Preprocessing: Мақсатты Аудитория және Деректерді Тазалау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3200400" cy="914400"/>
          </a:xfrm>
          <a:prstGeom prst="roundRect">
            <a:avLst/>
          </a:prstGeom>
          <a:solidFill>
            <a:srgbClr val="95A5A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/>
            </a:pPr>
            <a:r>
              <a:t>Шикі Датасет (NHANES)</a:t>
            </a:r>
            <a:br/>
            <a:r>
              <a:t>Балалар + Ересектер + Қарттар</a:t>
            </a:r>
          </a:p>
        </p:txBody>
      </p:sp>
      <p:sp>
        <p:nvSpPr>
          <p:cNvPr id="4" name="Down Arrow 3"/>
          <p:cNvSpPr/>
          <p:nvPr/>
        </p:nvSpPr>
        <p:spPr>
          <a:xfrm>
            <a:off x="2103120" y="2651760"/>
            <a:ext cx="457200" cy="457200"/>
          </a:xfrm>
          <a:prstGeom prst="downArrow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Snip Diagonal Corner Rectangle 4"/>
          <p:cNvSpPr/>
          <p:nvPr/>
        </p:nvSpPr>
        <p:spPr>
          <a:xfrm>
            <a:off x="731520" y="3200400"/>
            <a:ext cx="3200400" cy="1371600"/>
          </a:xfrm>
          <a:prstGeom prst="snip2DiagRect">
            <a:avLst/>
          </a:prstGeom>
          <a:solidFill>
            <a:srgbClr val="C0392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400"/>
            </a:pPr>
            <a:r>
              <a:t>ДЕРЕКТЕРДІ ТАЗАЛАУ (Алып тасталды):</a:t>
            </a:r>
          </a:p>
          <a:p>
            <a:pPr>
              <a:defRPr sz="1400"/>
            </a:pPr>
            <a:r>
              <a:t>❌ 18 жасқа дейінгі балалар</a:t>
            </a:r>
            <a:br/>
            <a:r>
              <a:t>❌ Экстремалды салмақ (Outliers)</a:t>
            </a:r>
            <a:br/>
            <a:r>
              <a:t>❌ Толық емес мәліметтер</a:t>
            </a:r>
          </a:p>
        </p:txBody>
      </p:sp>
      <p:sp>
        <p:nvSpPr>
          <p:cNvPr id="6" name="Down Arrow 5"/>
          <p:cNvSpPr/>
          <p:nvPr/>
        </p:nvSpPr>
        <p:spPr>
          <a:xfrm>
            <a:off x="2103120" y="4663440"/>
            <a:ext cx="457200" cy="457200"/>
          </a:xfrm>
          <a:prstGeom prst="downArrow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5212080"/>
            <a:ext cx="3200400" cy="914400"/>
          </a:xfrm>
          <a:prstGeom prst="roundRect">
            <a:avLst/>
          </a:prstGeom>
          <a:solidFill>
            <a:srgbClr val="27AE6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/>
            </a:pPr>
            <a:r>
              <a:t>Таза Датасет (Мақсатты Аудитория)</a:t>
            </a:r>
            <a:br/>
            <a:r>
              <a:t>Тек 18 - 80 жас аралығы (Ересектер)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0" y="1645920"/>
            <a:ext cx="6858000" cy="2560320"/>
          </a:xfrm>
          <a:prstGeom prst="rect">
            <a:avLst/>
          </a:prstGeom>
          <a:solidFill>
            <a:srgbClr val="F0F3F4"/>
          </a:solidFill>
          <a:ln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0" y="2743200"/>
            <a:ext cx="548640" cy="1371600"/>
          </a:xfrm>
          <a:prstGeom prst="rect">
            <a:avLst/>
          </a:prstGeom>
          <a:solidFill>
            <a:srgbClr val="3498DB"/>
          </a:solidFill>
          <a:ln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937760" y="4114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/>
            </a:pPr>
            <a:r>
              <a:t>18-25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35040" y="2103120"/>
            <a:ext cx="548640" cy="2011680"/>
          </a:xfrm>
          <a:prstGeom prst="rect">
            <a:avLst/>
          </a:prstGeom>
          <a:solidFill>
            <a:srgbClr val="3498DB"/>
          </a:solidFill>
          <a:ln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0" y="4114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/>
            </a:pPr>
            <a:r>
              <a:t>26-35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040880" y="2286000"/>
            <a:ext cx="548640" cy="1828800"/>
          </a:xfrm>
          <a:prstGeom prst="rect">
            <a:avLst/>
          </a:prstGeom>
          <a:solidFill>
            <a:srgbClr val="3498DB"/>
          </a:solidFill>
          <a:ln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440" y="4114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/>
            </a:pPr>
            <a:r>
              <a:t>36-45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46720" y="2468880"/>
            <a:ext cx="548640" cy="1645920"/>
          </a:xfrm>
          <a:prstGeom prst="rect">
            <a:avLst/>
          </a:prstGeom>
          <a:solidFill>
            <a:srgbClr val="3498DB"/>
          </a:solidFill>
          <a:ln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55280" y="4114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/>
            </a:pPr>
            <a:r>
              <a:t>46-55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052560" y="2926080"/>
            <a:ext cx="548640" cy="1188720"/>
          </a:xfrm>
          <a:prstGeom prst="rect">
            <a:avLst/>
          </a:prstGeom>
          <a:solidFill>
            <a:srgbClr val="3498DB"/>
          </a:solidFill>
          <a:ln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61120" y="4114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/>
            </a:pPr>
            <a:r>
              <a:t>56-65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058400" y="3383280"/>
            <a:ext cx="548640" cy="731520"/>
          </a:xfrm>
          <a:prstGeom prst="rect">
            <a:avLst/>
          </a:prstGeom>
          <a:solidFill>
            <a:srgbClr val="3498DB"/>
          </a:solidFill>
          <a:ln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966960" y="4114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/>
            </a:pPr>
            <a:r>
              <a:t>66-80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4572000"/>
            <a:ext cx="6858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000">
                <a:solidFill>
                  <a:srgbClr val="2C3E50"/>
                </a:solidFill>
              </a:defRPr>
            </a:pPr>
            <a:r>
              <a:t>Неліктен балалар алынып тасталды?</a:t>
            </a:r>
          </a:p>
          <a:p>
            <a:pPr>
              <a:spcBef>
                <a:spcPts val="800"/>
              </a:spcBef>
              <a:defRPr sz="1600">
                <a:solidFill>
                  <a:srgbClr val="34495E"/>
                </a:solidFill>
              </a:defRPr>
            </a:pPr>
            <a:r>
              <a:t>Балалардың метаболизмі мен дене құрылысы (өсу процесі) ересектерден мүлде бөлек жұмыс істейді. Егер оларды датасетке қоссақ, Machine Learning моделі шатасып, ересек адамға баланың жаттығуын беріп қоюы мүмкін.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