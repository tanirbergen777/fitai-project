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600">
                <a:solidFill>
                  <a:srgbClr val="2C3E50"/>
                </a:solidFill>
              </a:defRPr>
            </a:pPr>
            <a:r>
              <a:t>Жүйенің Қауіпсіздігі (Security) мен Тұрақтылығы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303520" cy="4114800"/>
          </a:xfrm>
          <a:prstGeom prst="roundRect">
            <a:avLst/>
          </a:prstGeom>
          <a:solidFill>
            <a:srgbClr val="FDEDEC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C0392B"/>
                </a:solidFill>
              </a:defRPr>
            </a:pPr>
            <a:r>
              <a:t>🔒  Деректер Қауіпсіздігі (Security)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377440"/>
            <a:ext cx="4754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b="1" sz="1800">
                <a:solidFill>
                  <a:srgbClr val="2C3E50"/>
                </a:solidFill>
              </a:defRPr>
            </a:pPr>
            <a:r>
              <a:t>• Supabase &amp; JWT Авторизациясы:</a:t>
            </a:r>
          </a:p>
          <a:p>
            <a:pPr>
              <a:defRPr sz="1500">
                <a:solidFill>
                  <a:srgbClr val="34495E"/>
                </a:solidFill>
              </a:defRPr>
            </a:pPr>
            <a:r>
              <a:t>  Құпия сөздер ашық сақталмайды. Пайдаланушылар қауіпсіз шифрланған JWT токендер арқылы қорғалған.</a:t>
            </a:r>
          </a:p>
          <a:p>
            <a:pPr>
              <a:spcBef>
                <a:spcPts val="1400"/>
              </a:spcBef>
              <a:defRPr b="1" sz="1800">
                <a:solidFill>
                  <a:srgbClr val="2C3E50"/>
                </a:solidFill>
              </a:defRPr>
            </a:pPr>
            <a:r>
              <a:t>• Pydantic Validation (FastAPI):</a:t>
            </a:r>
          </a:p>
          <a:p>
            <a:pPr>
              <a:defRPr sz="1500">
                <a:solidFill>
                  <a:srgbClr val="34495E"/>
                </a:solidFill>
              </a:defRPr>
            </a:pPr>
            <a:r>
              <a:t>  Сырттан келген барлық деректер автоматты түрде тексеріледі. Бұл жүйені SQL Injection және XSS хакерлік шабуылдарынан қорғайды.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303520" cy="411480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27AE60"/>
                </a:solidFill>
              </a:defRPr>
            </a:pPr>
            <a:r>
              <a:t>⚙️  Жүйе Тұрақтылығы (Scalability)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377440"/>
            <a:ext cx="4754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b="1" sz="1800">
                <a:solidFill>
                  <a:srgbClr val="2C3E50"/>
                </a:solidFill>
              </a:defRPr>
            </a:pPr>
            <a:r>
              <a:t>• Асинхронды архитектура (Async):</a:t>
            </a:r>
          </a:p>
          <a:p>
            <a:pPr>
              <a:defRPr sz="1500">
                <a:solidFill>
                  <a:srgbClr val="34495E"/>
                </a:solidFill>
              </a:defRPr>
            </a:pPr>
            <a:r>
              <a:t>  FastAPI-дің арқасында 1000 адам бірден кірсе де, сервер қатып қалмай сұраныстарды параллельді өңдейді.</a:t>
            </a:r>
          </a:p>
          <a:p>
            <a:pPr>
              <a:spcBef>
                <a:spcPts val="1400"/>
              </a:spcBef>
              <a:defRPr b="1" sz="1800">
                <a:solidFill>
                  <a:srgbClr val="2C3E50"/>
                </a:solidFill>
              </a:defRPr>
            </a:pPr>
            <a:r>
              <a:t>• Модульдік оқшаулау (Isolation):</a:t>
            </a:r>
          </a:p>
          <a:p>
            <a:pPr>
              <a:defRPr sz="1500">
                <a:solidFill>
                  <a:srgbClr val="34495E"/>
                </a:solidFill>
              </a:defRPr>
            </a:pPr>
            <a:r>
              <a:t>  Код микросервистік рутерлерге бөлінген. Бір жерде баг (қате) шықса, ол бүкіл қосымшаны құлатпайды.</a:t>
            </a:r>
          </a:p>
          <a:p>
            <a:pPr>
              <a:spcBef>
                <a:spcPts val="1400"/>
              </a:spcBef>
              <a:defRPr b="1" sz="1800">
                <a:solidFill>
                  <a:srgbClr val="2C3E50"/>
                </a:solidFill>
              </a:defRPr>
            </a:pPr>
            <a:r>
              <a:t>• Serverless Database (Neon):</a:t>
            </a:r>
          </a:p>
          <a:p>
            <a:pPr>
              <a:defRPr sz="1500">
                <a:solidFill>
                  <a:srgbClr val="34495E"/>
                </a:solidFill>
              </a:defRPr>
            </a:pPr>
            <a:r>
              <a:t>  Жүктеме артқан кезде деректер базасы автоматты түрде өз күшін ұлғайтады (Auto-scaling).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i="1" sz="1800">
                <a:solidFill>
                  <a:srgbClr val="2980B9"/>
                </a:solidFill>
              </a:defRPr>
            </a:pPr>
            <a:r>
              <a:t>Архитектура басынан бастап масштабтауға және жоғары жүктемелерге (High Load) төтеп беруге арналып жасалған.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