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000">
                <a:solidFill>
                  <a:srgbClr val="2C3E50"/>
                </a:solidFill>
              </a:defRPr>
            </a:pPr>
            <a:r>
              <a:t>Lunge (Алға қадам басу) — Деректерді ұлғайту және нәтижесі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4495E"/>
                </a:solidFill>
              </a:defRPr>
            </a:pPr>
            <a:r>
              <a:t>Бастапқыда деректер аз болып (174 қатар), дәлдік 60% ғана болды. Биомеханикалық зерттеулерге сүйеніп синтетикалық деректер генерацияладық және деректер қорын 3 174 қатарға дейін ұлғайтып, модельді қайта оқыттық.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474720" cy="2011680"/>
          </a:xfrm>
          <a:prstGeom prst="roundRect">
            <a:avLst/>
          </a:prstGeom>
          <a:solidFill>
            <a:srgbClr val="FDEDEC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C0392B"/>
                </a:solidFill>
              </a:defRPr>
            </a:pPr>
            <a:r>
              <a:t>❌  БҰРЫН</a:t>
            </a:r>
          </a:p>
          <a:p>
            <a:pPr>
              <a:spcBef>
                <a:spcPts val="1200"/>
              </a:spcBef>
              <a:defRPr sz="1600">
                <a:solidFill>
                  <a:srgbClr val="641E16"/>
                </a:solidFill>
              </a:defRPr>
            </a:pPr>
            <a:r>
              <a:t>• Деректер: 174 қатар (9 видео)</a:t>
            </a:r>
          </a:p>
          <a:p>
            <a:pPr>
              <a:defRPr sz="1600">
                <a:solidFill>
                  <a:srgbClr val="641E16"/>
                </a:solidFill>
              </a:defRPr>
            </a:pPr>
            <a:r>
              <a:t>• Алгоритм: RandomForest</a:t>
            </a:r>
          </a:p>
          <a:p>
            <a:pPr>
              <a:defRPr sz="2000" b="1">
                <a:solidFill>
                  <a:srgbClr val="C0392B"/>
                </a:solidFill>
              </a:defRPr>
            </a:pPr>
            <a:r>
              <a:t>• Дәлдік: 60.0%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3474720" cy="2011680"/>
          </a:xfrm>
          <a:prstGeom prst="roundRect">
            <a:avLst/>
          </a:prstGeom>
          <a:solidFill>
            <a:srgbClr val="EAFAF1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27AE60"/>
                </a:solidFill>
              </a:defRPr>
            </a:pPr>
            <a:r>
              <a:t>✅  КЕЙІН</a:t>
            </a:r>
          </a:p>
          <a:p>
            <a:pPr>
              <a:spcBef>
                <a:spcPts val="1200"/>
              </a:spcBef>
              <a:defRPr sz="1600">
                <a:solidFill>
                  <a:srgbClr val="145A32"/>
                </a:solidFill>
              </a:defRPr>
            </a:pPr>
            <a:r>
              <a:t>• Деректер: 3 174 қатар (+3000 синтетикалық)</a:t>
            </a:r>
          </a:p>
          <a:p>
            <a:pPr>
              <a:defRPr sz="1600">
                <a:solidFill>
                  <a:srgbClr val="145A32"/>
                </a:solidFill>
              </a:defRPr>
            </a:pPr>
            <a:r>
              <a:t>• Алгоритм: GradientBoosting</a:t>
            </a:r>
          </a:p>
          <a:p>
            <a:pPr>
              <a:defRPr sz="2000" b="1">
                <a:solidFill>
                  <a:srgbClr val="27AE60"/>
                </a:solidFill>
              </a:defRPr>
            </a:pPr>
            <a:r>
              <a:t>• Дәлдік: 97.3% (+37.3%)</a:t>
            </a:r>
          </a:p>
        </p:txBody>
      </p:sp>
      <p:sp>
        <p:nvSpPr>
          <p:cNvPr id="8" name="Down Arrow 7"/>
          <p:cNvSpPr/>
          <p:nvPr/>
        </p:nvSpPr>
        <p:spPr>
          <a:xfrm>
            <a:off x="1920240" y="3840480"/>
            <a:ext cx="548640" cy="274320"/>
          </a:xfrm>
          <a:prstGeom prst="downArrow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unge_cm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011680"/>
            <a:ext cx="4580426" cy="38404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412480" y="1828800"/>
            <a:ext cx="3474720" cy="429768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000">
                <a:solidFill>
                  <a:srgbClr val="2980B9"/>
                </a:solidFill>
              </a:defRPr>
            </a:pPr>
            <a:r>
              <a:t>4 типтегі қателік:</a:t>
            </a:r>
          </a:p>
          <a:p>
            <a:pPr>
              <a:spcBef>
                <a:spcPts val="1000"/>
              </a:spcBef>
              <a:defRPr b="1" sz="1600">
                <a:solidFill>
                  <a:srgbClr val="2C3E50"/>
                </a:solidFill>
              </a:defRPr>
            </a:pPr>
            <a:r>
              <a:t>1. Knee Over Toe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Тізе аяқ ұшынан алға шығып кетуі</a:t>
            </a:r>
          </a:p>
          <a:p>
            <a:pPr>
              <a:spcBef>
                <a:spcPts val="1000"/>
              </a:spcBef>
              <a:defRPr b="1" sz="1600">
                <a:solidFill>
                  <a:srgbClr val="2C3E50"/>
                </a:solidFill>
              </a:defRPr>
            </a:pPr>
            <a:r>
              <a:t>2. Shallow Lunge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Тізені жеткілікті бүкпей таяз отыру</a:t>
            </a:r>
          </a:p>
          <a:p>
            <a:pPr>
              <a:spcBef>
                <a:spcPts val="1000"/>
              </a:spcBef>
              <a:defRPr b="1" sz="1600">
                <a:solidFill>
                  <a:srgbClr val="2C3E50"/>
                </a:solidFill>
              </a:defRPr>
            </a:pPr>
            <a:r>
              <a:t>3. Excessive Lean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Дененің алға тым еңкейіп кетуі</a:t>
            </a:r>
          </a:p>
          <a:p>
            <a:pPr>
              <a:spcBef>
                <a:spcPts val="1000"/>
              </a:spcBef>
              <a:defRPr b="1" sz="1600">
                <a:solidFill>
                  <a:srgbClr val="2C3E50"/>
                </a:solidFill>
              </a:defRPr>
            </a:pPr>
            <a:r>
              <a:t>4. Knee Valgus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Тізенің ішке қарай ауытқуы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0936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i="1" sz="1600">
                <a:solidFill>
                  <a:srgbClr val="8E44AD"/>
                </a:solidFill>
              </a:defRPr>
            </a:pPr>
            <a:r>
              <a:t>Қорытынды: Деректерді биомеханикалық білім негізінде ұлғайту (Data Augmentation) арқылы модельдің дәлдігін 60%-дан 97.3%-ға дейін көтеруге қол жеткіздік.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